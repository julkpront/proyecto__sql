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embeddedFontLst>
    <p:embeddedFont>
      <p:font typeface="DM Sans"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7 minutos. Esta primera diapositiva solo presenta el proyecto: una base de datos relacional creada a partir de los datos de alumnos y profesores del bootcamp.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Explica de dónde venimos (datos en tablas planas con una columna por proyecto) y qué se pedía. Después presenta el índice.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Insiste en que no salió de golpe: empezamos con un boceto, luego un primer E-R y un primer modelo lógico, y los fuimos corrigiendo (por ejemplo, la fecha de comienzo no depende del alumno sino de la promoción).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Recorre el diagrama de arriba abajo: rol y persona, persona y proyecto con la calificación, y la edición en el centro uniendo campus, promoción, vertical y modalidad. Menciona la leyenda.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Es el esquema real de la base de datos, el mismo que muestra pgAdmin. Destaca Edición, Inscripción y Calificación como las tablas que conectan al resto.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y medio. 1FN: quitamos las columnas repetidas de proyectos. 2FN: email y campus dependían solo del nombre, ahora cada dato está en su tabla. 3FN: la fecha de comienzo depende de la promoción, no del alumno, por eso vive una sola vez en Promoción.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Docker para tener PostgreSQL funcionando, pgAdmin 4 para visualizar la base de datos (siguiente diapositiva) y Render para simular tenerla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Aquí se comprueba que lo diseñado es lo que existe de verdad en la base de datos. Después, enseñar las consultas de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6131C"/>
        </a:solidFill>
      </p:bgPr>
    </p:bg>
    <p:spTree>
      <p:nvGrpSpPr>
        <p:cNvPr id="1" name=""/>
        <p:cNvGrpSpPr/>
        <p:nvPr/>
      </p:nvGrpSpPr>
      <p:grpSpPr>
        <a:xfrm>
          <a:off x="0" y="0"/>
          <a:ext cx="0" cy="0"/>
          <a:chOff x="0" y="0"/>
          <a:chExt cx="0" cy="0"/>
        </a:xfrm>
      </p:grpSpPr>
      <p:sp>
        <p:nvSpPr>
          <p:cNvPr id="2" name="Title Placeholder 1"/>
          <p:cNvSpPr/>
          <p:nvPr>
            <p:ph type="title"/>
          </p:nvPr>
        </p:nvSpPr>
        <p:spPr>
          <a:xfrm>
            <a:off x="3257550" y="1141843"/>
            <a:ext cx="8121650" cy="698467"/>
          </a:xfrm>
          <a:prstGeom prst="rect">
            <a:avLst/>
          </a:prstGeom>
          <a:noFill/>
          <a:ln/>
        </p:spPr>
        <p:txBody>
          <a:bodyPr wrap="square" lIns="0" tIns="0" rIns="0" bIns="0" rtlCol="0" anchor="t"/>
          <a:lstStyle>
            <a:lvl1pPr algn="l" indent="0" marL="0">
              <a:lnSpc>
                <a:spcPct val="115000"/>
              </a:lnSpc>
              <a:buNone/>
              <a:defRPr lang="en-US" sz="3600" dirty="0">
                <a:solidFill>
                  <a:srgbClr val="F1EDF6"/>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3257550" y="2145110"/>
            <a:ext cx="8121650" cy="3900090"/>
          </a:xfrm>
          <a:prstGeom prst="rect">
            <a:avLst/>
          </a:prstGeom>
          <a:noFill/>
          <a:ln/>
        </p:spPr>
        <p:txBody>
          <a:bodyPr wrap="square" lIns="0" tIns="0" rIns="0" bIns="0" rtlCol="0" anchor="t"/>
          <a:lstStyle>
            <a:lvl1pPr algn="l" indent="0" marL="0">
              <a:lnSpc>
                <a:spcPct val="140000"/>
              </a:lnSpc>
              <a:buNone/>
              <a:defRPr lang="en-US" sz="1600" dirty="0">
                <a:solidFill>
                  <a:srgbClr val="F1EDF6"/>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131C"/>
        </a:solidFill>
      </p:bgPr>
    </p:bg>
    <p:spTree>
      <p:nvGrpSpPr>
        <p:cNvPr id="1" name=""/>
        <p:cNvGrpSpPr/>
        <p:nvPr/>
      </p:nvGrpSpPr>
      <p:grpSpPr>
        <a:xfrm>
          <a:off x="0" y="0"/>
          <a:ext cx="0" cy="0"/>
          <a:chOff x="0" y="0"/>
          <a:chExt cx="0" cy="0"/>
        </a:xfrm>
      </p:grpSpPr>
      <p:sp>
        <p:nvSpPr>
          <p:cNvPr id="2" name="Title Placeholder 1"/>
          <p:cNvSpPr/>
          <p:nvPr>
            <p:ph type="title"/>
          </p:nvPr>
        </p:nvSpPr>
        <p:spPr>
          <a:xfrm>
            <a:off x="3257550" y="1141843"/>
            <a:ext cx="8121650" cy="698467"/>
          </a:xfrm>
          <a:prstGeom prst="rect">
            <a:avLst/>
          </a:prstGeom>
          <a:noFill/>
          <a:ln/>
        </p:spPr>
        <p:txBody>
          <a:bodyPr wrap="square" lIns="0" tIns="0" rIns="0" bIns="0" rtlCol="0" anchor="t"/>
          <a:lstStyle>
            <a:lvl1pPr algn="l" indent="0" marL="0">
              <a:lnSpc>
                <a:spcPct val="115000"/>
              </a:lnSpc>
              <a:buNone/>
              <a:defRPr lang="en-US" sz="3600" dirty="0">
                <a:solidFill>
                  <a:srgbClr val="F1EDF6"/>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3257550" y="2145110"/>
            <a:ext cx="8121650" cy="3900090"/>
          </a:xfrm>
          <a:prstGeom prst="rect">
            <a:avLst/>
          </a:prstGeom>
          <a:noFill/>
          <a:ln/>
        </p:spPr>
        <p:txBody>
          <a:bodyPr wrap="square" lIns="0" tIns="0" rIns="0" bIns="0" rtlCol="0" anchor="t"/>
          <a:lstStyle>
            <a:lvl1pPr algn="l" indent="0" marL="0">
              <a:lnSpc>
                <a:spcPct val="140000"/>
              </a:lnSpc>
              <a:buNone/>
              <a:defRPr lang="en-US" sz="1600" dirty="0">
                <a:solidFill>
                  <a:srgbClr val="F1EDF6"/>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31C"/>
        </a:solidFill>
      </p:bgPr>
    </p:bg>
    <p:spTree>
      <p:nvGrpSpPr>
        <p:cNvPr id="1" name=""/>
        <p:cNvGrpSpPr/>
        <p:nvPr/>
      </p:nvGrpSpPr>
      <p:grpSpPr>
        <a:xfrm>
          <a:off x="0" y="0"/>
          <a:ext cx="0" cy="0"/>
          <a:chOff x="0" y="0"/>
          <a:chExt cx="0" cy="0"/>
        </a:xfrm>
      </p:grpSpPr>
      <p:sp>
        <p:nvSpPr>
          <p:cNvPr id="2" name="Text 0"/>
          <p:cNvSpPr/>
          <p:nvPr/>
        </p:nvSpPr>
        <p:spPr>
          <a:xfrm>
            <a:off x="812800" y="2007262"/>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0A840"/>
                </a:solidFill>
                <a:latin typeface="DM Sans" pitchFamily="34" charset="0"/>
                <a:ea typeface="DM Sans" pitchFamily="34" charset="-122"/>
                <a:cs typeface="DM Sans" pitchFamily="34" charset="-120"/>
              </a:rPr>
              <a:t>PROYECTO SQL · POSTGRESQL</a:t>
            </a:r>
            <a:endParaRPr lang="en-US" sz="1600" dirty="0"/>
          </a:p>
        </p:txBody>
      </p:sp>
      <p:sp>
        <p:nvSpPr>
          <p:cNvPr id="3" name="Text 1"/>
          <p:cNvSpPr/>
          <p:nvPr>
            <p:ph type="title"/>
          </p:nvPr>
        </p:nvSpPr>
        <p:spPr>
          <a:xfrm>
            <a:off x="812800" y="2494889"/>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EDF6"/>
                </a:solidFill>
                <a:latin typeface="DM Sans" pitchFamily="34" charset="0"/>
                <a:ea typeface="DM Sans" pitchFamily="34" charset="-122"/>
                <a:cs typeface="DM Sans" pitchFamily="34" charset="-120"/>
              </a:rPr>
              <a:t>Base de datos del bootcamp</a:t>
            </a:r>
            <a:endParaRPr lang="en-US" sz="6000" dirty="0"/>
          </a:p>
        </p:txBody>
      </p:sp>
      <p:sp>
        <p:nvSpPr>
          <p:cNvPr id="4" name="Text 2"/>
          <p:cNvSpPr/>
          <p:nvPr/>
        </p:nvSpPr>
        <p:spPr>
          <a:xfrm>
            <a:off x="812800" y="4298289"/>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C3A6DC"/>
                </a:solidFill>
                <a:latin typeface="DM Sans" pitchFamily="34" charset="0"/>
                <a:ea typeface="DM Sans" pitchFamily="34" charset="-122"/>
                <a:cs typeface="DM Sans" pitchFamily="34" charset="-120"/>
              </a:rPr>
              <a:t>De datos sin normalizar a un modelo relacional de 10 tablas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B2A52"/>
                </a:solidFill>
                <a:latin typeface="DM Sans" pitchFamily="34" charset="0"/>
                <a:ea typeface="DM Sans" pitchFamily="34" charset="-122"/>
                <a:cs typeface="DM Sans" pitchFamily="34" charset="-120"/>
              </a:rPr>
              <a:t>Resumen e índice</a:t>
            </a:r>
            <a:endParaRPr lang="en-US" sz="3600" dirty="0"/>
          </a:p>
        </p:txBody>
      </p:sp>
      <p:sp>
        <p:nvSpPr>
          <p:cNvPr id="3" name="Text 1"/>
          <p:cNvSpPr/>
          <p:nvPr/>
        </p:nvSpPr>
        <p:spPr>
          <a:xfrm>
            <a:off x="812800" y="1671307"/>
            <a:ext cx="4861772"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A4FA3"/>
                </a:solidFill>
                <a:latin typeface="DM Sans" pitchFamily="34" charset="0"/>
                <a:ea typeface="DM Sans" pitchFamily="34" charset="-122"/>
                <a:cs typeface="DM Sans" pitchFamily="34" charset="-120"/>
              </a:rPr>
              <a:t>El proyecto</a:t>
            </a:r>
            <a:endParaRPr lang="en-US" sz="2200" dirty="0"/>
          </a:p>
        </p:txBody>
      </p:sp>
      <p:sp>
        <p:nvSpPr>
          <p:cNvPr id="4" name="Text 2"/>
          <p:cNvSpPr/>
          <p:nvPr/>
        </p:nvSpPr>
        <p:spPr>
          <a:xfrm>
            <a:off x="812800" y="2184334"/>
            <a:ext cx="4861772" cy="93206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3347"/>
                </a:solidFill>
                <a:latin typeface="DM Sans" pitchFamily="34" charset="0"/>
                <a:ea typeface="DM Sans" pitchFamily="34" charset="-122"/>
                <a:cs typeface="DM Sans" pitchFamily="34" charset="-120"/>
              </a:rPr>
              <a:t>Crear una base de datos relacional a partir de datos sin normalizar: 52 alumnos de 4 clases (Data Science y Full Stack) y 10 profesores.</a:t>
            </a:r>
            <a:endParaRPr lang="en-US" sz="1700" dirty="0"/>
          </a:p>
        </p:txBody>
      </p:sp>
      <p:sp>
        <p:nvSpPr>
          <p:cNvPr id="5" name="Text 3"/>
          <p:cNvSpPr/>
          <p:nvPr/>
        </p:nvSpPr>
        <p:spPr>
          <a:xfrm>
            <a:off x="812800" y="3268795"/>
            <a:ext cx="4861772"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3347"/>
                </a:solidFill>
                <a:latin typeface="DM Sans" pitchFamily="34" charset="0"/>
                <a:ea typeface="DM Sans" pitchFamily="34" charset="-122"/>
                <a:cs typeface="DM Sans" pitchFamily="34" charset="-120"/>
              </a:rPr>
              <a:t>Debe poder crecer en campus, verticales, promociones y modalidades sin repetir datos.</a:t>
            </a:r>
            <a:endParaRPr lang="en-US" sz="1700" dirty="0"/>
          </a:p>
        </p:txBody>
      </p:sp>
      <p:sp>
        <p:nvSpPr>
          <p:cNvPr id="6" name="Shape 4"/>
          <p:cNvSpPr/>
          <p:nvPr/>
        </p:nvSpPr>
        <p:spPr>
          <a:xfrm>
            <a:off x="5993342" y="1674482"/>
            <a:ext cx="5382683" cy="2858029"/>
          </a:xfrm>
          <a:prstGeom prst="roundRect">
            <a:avLst>
              <a:gd name="adj" fmla="val 4333"/>
            </a:avLst>
          </a:prstGeom>
          <a:solidFill>
            <a:srgbClr val="FFFFFF"/>
          </a:solidFill>
          <a:ln w="6350">
            <a:solidFill>
              <a:srgbClr val="DDD3E8"/>
            </a:solidFill>
            <a:prstDash val="solid"/>
          </a:ln>
        </p:spPr>
      </p:sp>
      <p:sp>
        <p:nvSpPr>
          <p:cNvPr id="7" name="Text 5"/>
          <p:cNvSpPr/>
          <p:nvPr/>
        </p:nvSpPr>
        <p:spPr>
          <a:xfrm>
            <a:off x="6324600" y="1954940"/>
            <a:ext cx="4861772"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A4FA3"/>
                </a:solidFill>
                <a:latin typeface="DM Sans" pitchFamily="34" charset="0"/>
                <a:ea typeface="DM Sans" pitchFamily="34" charset="-122"/>
                <a:cs typeface="DM Sans" pitchFamily="34" charset="-120"/>
              </a:rPr>
              <a:t>Índice</a:t>
            </a:r>
            <a:endParaRPr lang="en-US" sz="2200" dirty="0"/>
          </a:p>
        </p:txBody>
      </p:sp>
      <p:sp>
        <p:nvSpPr>
          <p:cNvPr id="8" name="Text 6"/>
          <p:cNvSpPr/>
          <p:nvPr/>
        </p:nvSpPr>
        <p:spPr>
          <a:xfrm>
            <a:off x="6346627" y="2417167"/>
            <a:ext cx="4832125" cy="1860285"/>
          </a:xfrm>
          <a:prstGeom prst="rect">
            <a:avLst/>
          </a:prstGeom>
          <a:noFill/>
          <a:ln/>
        </p:spPr>
        <p:txBody>
          <a:bodyPr wrap="square" lIns="0" tIns="0" rIns="0" bIns="0" rtlCol="0" anchor="t">
            <a:normAutofit/>
          </a:bodyPr>
          <a:lstStyle/>
          <a:p>
            <a:pPr algn="l" marL="231973" indent="-231973">
              <a:lnSpc>
                <a:spcPts val="2890"/>
              </a:lnSpc>
              <a:buSzPct val="100000"/>
              <a:buFontTx/>
              <a:buAutoNum type="arabicPeriod" startAt="1"/>
            </a:pPr>
            <a:r>
              <a:rPr lang="en-US" sz="1700" dirty="0">
                <a:solidFill>
                  <a:srgbClr val="1F1A29"/>
                </a:solidFill>
                <a:latin typeface="DM Sans" pitchFamily="34" charset="0"/>
                <a:ea typeface="DM Sans" pitchFamily="34" charset="-122"/>
                <a:cs typeface="DM Sans" pitchFamily="34" charset="-120"/>
              </a:rPr>
              <a:t>Cómo fue el proceso</a:t>
            </a:r>
            <a:endParaRPr lang="en-US" sz="1700" dirty="0"/>
          </a:p>
          <a:p>
            <a:pPr algn="l" marL="231973" indent="-231973">
              <a:lnSpc>
                <a:spcPts val="2890"/>
              </a:lnSpc>
              <a:buSzPct val="100000"/>
              <a:buFontTx/>
              <a:buAutoNum type="arabicPeriod" startAt="1"/>
            </a:pPr>
            <a:r>
              <a:rPr lang="en-US" sz="1700" dirty="0">
                <a:solidFill>
                  <a:srgbClr val="1F1A29"/>
                </a:solidFill>
                <a:latin typeface="DM Sans" pitchFamily="34" charset="0"/>
                <a:ea typeface="DM Sans" pitchFamily="34" charset="-122"/>
                <a:cs typeface="DM Sans" pitchFamily="34" charset="-120"/>
              </a:rPr>
              <a:t>Diagrama Entidad-Relación</a:t>
            </a:r>
            <a:endParaRPr lang="en-US" sz="1700" dirty="0"/>
          </a:p>
          <a:p>
            <a:pPr algn="l" marL="231973" indent="-231973">
              <a:lnSpc>
                <a:spcPts val="2890"/>
              </a:lnSpc>
              <a:buSzPct val="100000"/>
              <a:buFontTx/>
              <a:buAutoNum type="arabicPeriod" startAt="1"/>
            </a:pPr>
            <a:r>
              <a:rPr lang="en-US" sz="1700" dirty="0">
                <a:solidFill>
                  <a:srgbClr val="1F1A29"/>
                </a:solidFill>
                <a:latin typeface="DM Sans" pitchFamily="34" charset="0"/>
                <a:ea typeface="DM Sans" pitchFamily="34" charset="-122"/>
                <a:cs typeface="DM Sans" pitchFamily="34" charset="-120"/>
              </a:rPr>
              <a:t>Modelo lógico</a:t>
            </a:r>
            <a:endParaRPr lang="en-US" sz="1700" dirty="0"/>
          </a:p>
          <a:p>
            <a:pPr algn="l" marL="231973" indent="-231973">
              <a:lnSpc>
                <a:spcPts val="2890"/>
              </a:lnSpc>
              <a:buSzPct val="100000"/>
              <a:buFontTx/>
              <a:buAutoNum type="arabicPeriod" startAt="1"/>
            </a:pPr>
            <a:r>
              <a:rPr lang="en-US" sz="1700" dirty="0">
                <a:solidFill>
                  <a:srgbClr val="1F1A29"/>
                </a:solidFill>
                <a:latin typeface="DM Sans" pitchFamily="34" charset="0"/>
                <a:ea typeface="DM Sans" pitchFamily="34" charset="-122"/>
                <a:cs typeface="DM Sans" pitchFamily="34" charset="-120"/>
              </a:rPr>
              <a:t>Normalización: 1FN, 2FN y 3FN</a:t>
            </a:r>
            <a:endParaRPr lang="en-US" sz="1700" dirty="0"/>
          </a:p>
          <a:p>
            <a:pPr algn="l" marL="231973" indent="-231973">
              <a:lnSpc>
                <a:spcPts val="2890"/>
              </a:lnSpc>
              <a:buSzPct val="100000"/>
              <a:buFontTx/>
              <a:buAutoNum type="arabicPeriod" startAt="1"/>
            </a:pPr>
            <a:r>
              <a:rPr lang="en-US" sz="1700" dirty="0">
                <a:solidFill>
                  <a:srgbClr val="1F1A29"/>
                </a:solidFill>
                <a:latin typeface="DM Sans" pitchFamily="34" charset="0"/>
                <a:ea typeface="DM Sans" pitchFamily="34" charset="-122"/>
                <a:cs typeface="DM Sans" pitchFamily="34" charset="-120"/>
              </a:rPr>
              <a:t>Docker, pgAdmin 4 y Render</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3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EDF6"/>
                </a:solidFill>
                <a:latin typeface="DM Sans" pitchFamily="34" charset="0"/>
                <a:ea typeface="DM Sans" pitchFamily="34" charset="-122"/>
                <a:cs typeface="DM Sans" pitchFamily="34" charset="-120"/>
              </a:rPr>
              <a:t>Un proceso gradual</a:t>
            </a:r>
            <a:endParaRPr lang="en-US" sz="3600" dirty="0"/>
          </a:p>
        </p:txBody>
      </p:sp>
      <p:sp>
        <p:nvSpPr>
          <p:cNvPr id="3" name="Shape 1"/>
          <p:cNvSpPr/>
          <p:nvPr/>
        </p:nvSpPr>
        <p:spPr>
          <a:xfrm>
            <a:off x="812800" y="1569707"/>
            <a:ext cx="3352800" cy="2794000"/>
          </a:xfrm>
          <a:prstGeom prst="roundRect">
            <a:avLst>
              <a:gd name="adj" fmla="val 2727"/>
            </a:avLst>
          </a:prstGeom>
          <a:solidFill>
            <a:srgbClr val="0F0D14"/>
          </a:solidFill>
          <a:ln/>
        </p:spPr>
      </p:sp>
      <p:pic>
        <p:nvPicPr>
          <p:cNvPr id="4" name="Image 0" descr="Boceto en texto con las tablas y sus conexiones">    </p:cNvPr>
          <p:cNvPicPr>
            <a:picLocks noChangeAspect="1"/>
          </p:cNvPicPr>
          <p:nvPr/>
        </p:nvPicPr>
        <p:blipFill>
          <a:blip r:embed="rId1"/>
          <a:stretch>
            <a:fillRect/>
          </a:stretch>
        </p:blipFill>
        <p:spPr>
          <a:xfrm>
            <a:off x="819150" y="1640604"/>
            <a:ext cx="3340100" cy="2652208"/>
          </a:xfrm>
          <a:custGeom>
            <a:avLst/>
            <a:gdLst/>
            <a:ahLst/>
            <a:cxnLst/>
            <a:rect l="l" t="t" r="r" b="b"/>
            <a:pathLst>
              <a:path w="3340100" h="2652208">
                <a:moveTo>
                  <a:pt x="0" y="5304"/>
                </a:moveTo>
                <a:arcTo wR="69850" hR="69850" stAng="10800000" swAng="261283"/>
                <a:lnTo>
                  <a:pt x="3339898" y="0"/>
                </a:lnTo>
                <a:arcTo wR="69850" hR="69850" stAng="21338717" swAng="261283"/>
                <a:lnTo>
                  <a:pt x="3340100" y="2646904"/>
                </a:lnTo>
                <a:arcTo wR="69850" hR="69850" stAng="0" swAng="261283"/>
                <a:lnTo>
                  <a:pt x="202" y="2652208"/>
                </a:lnTo>
                <a:arcTo wR="69850" hR="69850" stAng="10538717" swAng="261283"/>
                <a:close/>
              </a:path>
            </a:pathLst>
          </a:custGeom>
        </p:spPr>
      </p:pic>
      <p:sp>
        <p:nvSpPr>
          <p:cNvPr id="5" name="Shape 2"/>
          <p:cNvSpPr/>
          <p:nvPr/>
        </p:nvSpPr>
        <p:spPr>
          <a:xfrm>
            <a:off x="815975" y="1572882"/>
            <a:ext cx="3346450" cy="2787650"/>
          </a:xfrm>
          <a:prstGeom prst="roundRect">
            <a:avLst>
              <a:gd name="adj" fmla="val 2620"/>
            </a:avLst>
          </a:prstGeom>
          <a:noFill/>
          <a:ln w="6350">
            <a:solidFill>
              <a:srgbClr val="3A3347"/>
            </a:solidFill>
            <a:prstDash val="solid"/>
          </a:ln>
        </p:spPr>
      </p:sp>
      <p:sp>
        <p:nvSpPr>
          <p:cNvPr id="6" name="Text 3"/>
          <p:cNvSpPr/>
          <p:nvPr/>
        </p:nvSpPr>
        <p:spPr>
          <a:xfrm>
            <a:off x="812800" y="4490707"/>
            <a:ext cx="34533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A840"/>
                </a:solidFill>
                <a:latin typeface="DM Sans" pitchFamily="34" charset="0"/>
                <a:ea typeface="DM Sans" pitchFamily="34" charset="-122"/>
                <a:cs typeface="DM Sans" pitchFamily="34" charset="-120"/>
              </a:rPr>
              <a:t>1. Boceto</a:t>
            </a:r>
            <a:endParaRPr lang="en-US" sz="1500" dirty="0"/>
          </a:p>
        </p:txBody>
      </p:sp>
      <p:sp>
        <p:nvSpPr>
          <p:cNvPr id="7" name="Text 4"/>
          <p:cNvSpPr/>
          <p:nvPr/>
        </p:nvSpPr>
        <p:spPr>
          <a:xfrm>
            <a:off x="812800" y="4884407"/>
            <a:ext cx="3606800"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E4"/>
                </a:solidFill>
                <a:latin typeface="DM Sans" pitchFamily="34" charset="0"/>
                <a:ea typeface="DM Sans" pitchFamily="34" charset="-122"/>
                <a:cs typeface="DM Sans" pitchFamily="34" charset="-120"/>
              </a:rPr>
              <a:t>Primero, las tablas y cómo se conectan.</a:t>
            </a:r>
            <a:endParaRPr lang="en-US" sz="1400" dirty="0"/>
          </a:p>
        </p:txBody>
      </p:sp>
      <p:sp>
        <p:nvSpPr>
          <p:cNvPr id="8" name="Shape 5"/>
          <p:cNvSpPr/>
          <p:nvPr/>
        </p:nvSpPr>
        <p:spPr>
          <a:xfrm>
            <a:off x="4419600" y="1569707"/>
            <a:ext cx="3352800" cy="2794000"/>
          </a:xfrm>
          <a:prstGeom prst="roundRect">
            <a:avLst>
              <a:gd name="adj" fmla="val 2727"/>
            </a:avLst>
          </a:prstGeom>
          <a:solidFill>
            <a:srgbClr val="0F0D14"/>
          </a:solidFill>
          <a:ln/>
        </p:spPr>
      </p:sp>
      <p:pic>
        <p:nvPicPr>
          <p:cNvPr id="9" name="Image 1" descr="Primer diagrama entidad-relación con alumno, promoción, campus y proyecto">    </p:cNvPr>
          <p:cNvPicPr>
            <a:picLocks noChangeAspect="1"/>
          </p:cNvPicPr>
          <p:nvPr/>
        </p:nvPicPr>
        <p:blipFill>
          <a:blip r:embed="rId2"/>
          <a:stretch>
            <a:fillRect/>
          </a:stretch>
        </p:blipFill>
        <p:spPr>
          <a:xfrm>
            <a:off x="4519076" y="1576057"/>
            <a:ext cx="3153848" cy="2781300"/>
          </a:xfrm>
          <a:prstGeom prst="rect">
            <a:avLst/>
          </a:prstGeom>
        </p:spPr>
      </p:pic>
      <p:sp>
        <p:nvSpPr>
          <p:cNvPr id="10" name="Shape 6"/>
          <p:cNvSpPr/>
          <p:nvPr/>
        </p:nvSpPr>
        <p:spPr>
          <a:xfrm>
            <a:off x="4422775" y="1572882"/>
            <a:ext cx="3346450" cy="2787650"/>
          </a:xfrm>
          <a:prstGeom prst="roundRect">
            <a:avLst>
              <a:gd name="adj" fmla="val 2620"/>
            </a:avLst>
          </a:prstGeom>
          <a:noFill/>
          <a:ln w="6350">
            <a:solidFill>
              <a:srgbClr val="3A3347"/>
            </a:solidFill>
            <a:prstDash val="solid"/>
          </a:ln>
        </p:spPr>
      </p:sp>
      <p:sp>
        <p:nvSpPr>
          <p:cNvPr id="11" name="Text 7"/>
          <p:cNvSpPr/>
          <p:nvPr/>
        </p:nvSpPr>
        <p:spPr>
          <a:xfrm>
            <a:off x="4419600" y="4490707"/>
            <a:ext cx="34533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A840"/>
                </a:solidFill>
                <a:latin typeface="DM Sans" pitchFamily="34" charset="0"/>
                <a:ea typeface="DM Sans" pitchFamily="34" charset="-122"/>
                <a:cs typeface="DM Sans" pitchFamily="34" charset="-120"/>
              </a:rPr>
              <a:t>2. Primer E-R</a:t>
            </a:r>
            <a:endParaRPr lang="en-US" sz="1500" dirty="0"/>
          </a:p>
        </p:txBody>
      </p:sp>
      <p:sp>
        <p:nvSpPr>
          <p:cNvPr id="12" name="Text 8"/>
          <p:cNvSpPr/>
          <p:nvPr/>
        </p:nvSpPr>
        <p:spPr>
          <a:xfrm>
            <a:off x="4419600" y="4884407"/>
            <a:ext cx="3453384"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E4"/>
                </a:solidFill>
                <a:latin typeface="DM Sans" pitchFamily="34" charset="0"/>
                <a:ea typeface="DM Sans" pitchFamily="34" charset="-122"/>
                <a:cs typeface="DM Sans" pitchFamily="34" charset="-120"/>
              </a:rPr>
              <a:t>Con la entidad Alumno como centro.</a:t>
            </a:r>
            <a:endParaRPr lang="en-US" sz="1400" dirty="0"/>
          </a:p>
        </p:txBody>
      </p:sp>
      <p:sp>
        <p:nvSpPr>
          <p:cNvPr id="13" name="Shape 9"/>
          <p:cNvSpPr/>
          <p:nvPr/>
        </p:nvSpPr>
        <p:spPr>
          <a:xfrm>
            <a:off x="8026400" y="1569707"/>
            <a:ext cx="3352800" cy="2794000"/>
          </a:xfrm>
          <a:prstGeom prst="roundRect">
            <a:avLst>
              <a:gd name="adj" fmla="val 2727"/>
            </a:avLst>
          </a:prstGeom>
          <a:solidFill>
            <a:srgbClr val="0F0D14"/>
          </a:solidFill>
          <a:ln/>
        </p:spPr>
      </p:sp>
      <p:pic>
        <p:nvPicPr>
          <p:cNvPr id="14" name="Image 2" descr="Primer modelo lógico con las tablas Alumno, Campus, Promoción, Proyecto y Entrega_proyecto">    </p:cNvPr>
          <p:cNvPicPr>
            <a:picLocks noChangeAspect="1"/>
          </p:cNvPicPr>
          <p:nvPr/>
        </p:nvPicPr>
        <p:blipFill>
          <a:blip r:embed="rId3"/>
          <a:stretch>
            <a:fillRect/>
          </a:stretch>
        </p:blipFill>
        <p:spPr>
          <a:xfrm>
            <a:off x="8136530" y="1576057"/>
            <a:ext cx="3132540" cy="2781300"/>
          </a:xfrm>
          <a:prstGeom prst="rect">
            <a:avLst/>
          </a:prstGeom>
        </p:spPr>
      </p:pic>
      <p:sp>
        <p:nvSpPr>
          <p:cNvPr id="15" name="Shape 10"/>
          <p:cNvSpPr/>
          <p:nvPr/>
        </p:nvSpPr>
        <p:spPr>
          <a:xfrm>
            <a:off x="8029575" y="1572882"/>
            <a:ext cx="3346450" cy="2787650"/>
          </a:xfrm>
          <a:prstGeom prst="roundRect">
            <a:avLst>
              <a:gd name="adj" fmla="val 2620"/>
            </a:avLst>
          </a:prstGeom>
          <a:noFill/>
          <a:ln w="6350">
            <a:solidFill>
              <a:srgbClr val="3A3347"/>
            </a:solidFill>
            <a:prstDash val="solid"/>
          </a:ln>
        </p:spPr>
      </p:sp>
      <p:sp>
        <p:nvSpPr>
          <p:cNvPr id="16" name="Text 11"/>
          <p:cNvSpPr/>
          <p:nvPr/>
        </p:nvSpPr>
        <p:spPr>
          <a:xfrm>
            <a:off x="8026400" y="4490707"/>
            <a:ext cx="34533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A840"/>
                </a:solidFill>
                <a:latin typeface="DM Sans" pitchFamily="34" charset="0"/>
                <a:ea typeface="DM Sans" pitchFamily="34" charset="-122"/>
                <a:cs typeface="DM Sans" pitchFamily="34" charset="-120"/>
              </a:rPr>
              <a:t>3. Primer modelo lógico</a:t>
            </a:r>
            <a:endParaRPr lang="en-US" sz="1500" dirty="0"/>
          </a:p>
        </p:txBody>
      </p:sp>
      <p:sp>
        <p:nvSpPr>
          <p:cNvPr id="17" name="Text 12"/>
          <p:cNvSpPr/>
          <p:nvPr/>
        </p:nvSpPr>
        <p:spPr>
          <a:xfrm>
            <a:off x="8026400" y="4884407"/>
            <a:ext cx="3453384"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E4"/>
                </a:solidFill>
                <a:latin typeface="DM Sans" pitchFamily="34" charset="0"/>
                <a:ea typeface="DM Sans" pitchFamily="34" charset="-122"/>
                <a:cs typeface="DM Sans" pitchFamily="34" charset="-120"/>
              </a:rPr>
              <a:t>Del E-R a tablas con claves.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31C"/>
        </a:solidFill>
      </p:bgPr>
    </p:bg>
    <p:spTree>
      <p:nvGrpSpPr>
        <p:cNvPr id="1" name=""/>
        <p:cNvGrpSpPr/>
        <p:nvPr/>
      </p:nvGrpSpPr>
      <p:grpSpPr>
        <a:xfrm>
          <a:off x="0" y="0"/>
          <a:ext cx="0" cy="0"/>
          <a:chOff x="0" y="0"/>
          <a:chExt cx="0" cy="0"/>
        </a:xfrm>
      </p:grpSpPr>
      <p:sp>
        <p:nvSpPr>
          <p:cNvPr id="2" name="Shape 0"/>
          <p:cNvSpPr/>
          <p:nvPr/>
        </p:nvSpPr>
        <p:spPr>
          <a:xfrm>
            <a:off x="812800" y="800100"/>
            <a:ext cx="4381500" cy="5054600"/>
          </a:xfrm>
          <a:prstGeom prst="roundRect">
            <a:avLst>
              <a:gd name="adj" fmla="val 1739"/>
            </a:avLst>
          </a:prstGeom>
          <a:solidFill>
            <a:srgbClr val="0F0D14"/>
          </a:solidFill>
          <a:ln/>
        </p:spPr>
      </p:sp>
      <p:pic>
        <p:nvPicPr>
          <p:cNvPr id="3" name="Image 0" descr="Diagrama Entidad-Relación final con leyenda">    </p:cNvPr>
          <p:cNvPicPr>
            <a:picLocks noChangeAspect="1"/>
          </p:cNvPicPr>
          <p:nvPr/>
        </p:nvPicPr>
        <p:blipFill>
          <a:blip r:embed="rId1"/>
          <a:srcRect l="0" r="0" t="-10" b="-10"/>
          <a:stretch/>
        </p:blipFill>
        <p:spPr>
          <a:xfrm>
            <a:off x="819150" y="806450"/>
            <a:ext cx="4368800" cy="5041900"/>
          </a:xfrm>
          <a:prstGeom prst="roundRect">
            <a:avLst>
              <a:gd name="adj" fmla="val 1599"/>
            </a:avLst>
          </a:prstGeom>
        </p:spPr>
      </p:pic>
      <p:sp>
        <p:nvSpPr>
          <p:cNvPr id="4" name="Shape 1"/>
          <p:cNvSpPr/>
          <p:nvPr/>
        </p:nvSpPr>
        <p:spPr>
          <a:xfrm>
            <a:off x="815975" y="803275"/>
            <a:ext cx="4375150" cy="5048250"/>
          </a:xfrm>
          <a:prstGeom prst="roundRect">
            <a:avLst>
              <a:gd name="adj" fmla="val 1669"/>
            </a:avLst>
          </a:prstGeom>
          <a:noFill/>
          <a:ln w="6350">
            <a:solidFill>
              <a:srgbClr val="3A3347"/>
            </a:solidFill>
            <a:prstDash val="solid"/>
          </a:ln>
        </p:spPr>
      </p:sp>
      <p:sp>
        <p:nvSpPr>
          <p:cNvPr id="5" name="Text 2"/>
          <p:cNvSpPr/>
          <p:nvPr>
            <p:ph type="title"/>
          </p:nvPr>
        </p:nvSpPr>
        <p:spPr>
          <a:xfrm>
            <a:off x="5702300" y="1470885"/>
            <a:ext cx="5847207"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EDF6"/>
                </a:solidFill>
                <a:latin typeface="DM Sans" pitchFamily="34" charset="0"/>
                <a:ea typeface="DM Sans" pitchFamily="34" charset="-122"/>
                <a:cs typeface="DM Sans" pitchFamily="34" charset="-120"/>
              </a:rPr>
              <a:t>Diagrama Entidad-Relación</a:t>
            </a:r>
            <a:endParaRPr lang="en-US" sz="3600" dirty="0"/>
          </a:p>
        </p:txBody>
      </p:sp>
      <p:sp>
        <p:nvSpPr>
          <p:cNvPr id="6" name="Text 3"/>
          <p:cNvSpPr/>
          <p:nvPr/>
        </p:nvSpPr>
        <p:spPr>
          <a:xfrm>
            <a:off x="5759196" y="2679898"/>
            <a:ext cx="5782691" cy="2529417"/>
          </a:xfrm>
          <a:prstGeom prst="rect">
            <a:avLst/>
          </a:prstGeom>
          <a:noFill/>
          <a:ln/>
        </p:spPr>
        <p:txBody>
          <a:bodyPr wrap="square" lIns="0" tIns="0" rIns="0" bIns="0" rtlCol="0" anchor="t">
            <a:normAutofit/>
          </a:bodyPr>
          <a:lstStyle/>
          <a:p>
            <a:pPr algn="l" marL="197104" indent="-197104">
              <a:lnSpc>
                <a:spcPts val="2465"/>
              </a:lnSpc>
              <a:buSzPct val="100000"/>
              <a:buChar char="•"/>
            </a:pPr>
            <a:r>
              <a:rPr lang="en-US" sz="1700" dirty="0">
                <a:solidFill>
                  <a:srgbClr val="D9D0E4"/>
                </a:solidFill>
                <a:latin typeface="DM Sans" pitchFamily="34" charset="0"/>
                <a:ea typeface="DM Sans" pitchFamily="34" charset="-122"/>
                <a:cs typeface="DM Sans" pitchFamily="34" charset="-120"/>
              </a:rPr>
              <a:t>8 entidades y sus relaciones, con cardinalidad 1, N y M.</a:t>
            </a:r>
            <a:endParaRPr lang="en-US" sz="1700" dirty="0"/>
          </a:p>
          <a:p>
            <a:pPr algn="l" marL="197104" indent="-197104">
              <a:lnSpc>
                <a:spcPts val="2465"/>
              </a:lnSpc>
              <a:buSzPct val="100000"/>
              <a:buChar char="•"/>
            </a:pPr>
            <a:r>
              <a:rPr lang="en-US" sz="1700" dirty="0">
                <a:solidFill>
                  <a:srgbClr val="D9D0E4"/>
                </a:solidFill>
                <a:latin typeface="DM Sans" pitchFamily="34" charset="0"/>
                <a:ea typeface="DM Sans" pitchFamily="34" charset="-122"/>
                <a:cs typeface="DM Sans" pitchFamily="34" charset="-120"/>
              </a:rPr>
              <a:t>La calificación es un atributo de la relación entre persona y proyecto (en naranja).</a:t>
            </a:r>
            <a:endParaRPr lang="en-US" sz="1700" dirty="0"/>
          </a:p>
          <a:p>
            <a:pPr algn="l" marL="197104" indent="-197104">
              <a:lnSpc>
                <a:spcPts val="2465"/>
              </a:lnSpc>
              <a:buSzPct val="100000"/>
              <a:buChar char="•"/>
            </a:pPr>
            <a:r>
              <a:rPr lang="en-US" sz="1700" dirty="0">
                <a:solidFill>
                  <a:srgbClr val="D9D0E4"/>
                </a:solidFill>
                <a:latin typeface="DM Sans" pitchFamily="34" charset="0"/>
                <a:ea typeface="DM Sans" pitchFamily="34" charset="-122"/>
                <a:cs typeface="DM Sans" pitchFamily="34" charset="-120"/>
              </a:rPr>
              <a:t>Edición es una entidad débil (rectángulo doble): no tiene sentido sin su campus, promoción, vertical y modalidad.</a:t>
            </a:r>
            <a:endParaRPr lang="en-US" sz="1700" dirty="0"/>
          </a:p>
          <a:p>
            <a:pPr algn="l" marL="197104" indent="-197104">
              <a:lnSpc>
                <a:spcPts val="2465"/>
              </a:lnSpc>
              <a:buSzPct val="100000"/>
              <a:buChar char="•"/>
            </a:pPr>
            <a:r>
              <a:rPr lang="en-US" sz="1700" dirty="0">
                <a:solidFill>
                  <a:srgbClr val="D9D0E4"/>
                </a:solidFill>
                <a:latin typeface="DM Sans" pitchFamily="34" charset="0"/>
                <a:ea typeface="DM Sans" pitchFamily="34" charset="-122"/>
                <a:cs typeface="DM Sans" pitchFamily="34" charset="-120"/>
              </a:rPr>
              <a:t>Incluye una leyenda para leer el diagrama.</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3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EDF6"/>
                </a:solidFill>
                <a:latin typeface="DM Sans" pitchFamily="34" charset="0"/>
                <a:ea typeface="DM Sans" pitchFamily="34" charset="-122"/>
                <a:cs typeface="DM Sans" pitchFamily="34" charset="-120"/>
              </a:rPr>
              <a:t>Modelo lógico</a:t>
            </a:r>
            <a:endParaRPr lang="en-US" sz="3600" dirty="0"/>
          </a:p>
        </p:txBody>
      </p:sp>
      <p:sp>
        <p:nvSpPr>
          <p:cNvPr id="3" name="Shape 1"/>
          <p:cNvSpPr/>
          <p:nvPr/>
        </p:nvSpPr>
        <p:spPr>
          <a:xfrm>
            <a:off x="812800" y="1518909"/>
            <a:ext cx="6731000" cy="4178300"/>
          </a:xfrm>
          <a:prstGeom prst="roundRect">
            <a:avLst>
              <a:gd name="adj" fmla="val 1824"/>
            </a:avLst>
          </a:prstGeom>
          <a:solidFill>
            <a:srgbClr val="0F0D14"/>
          </a:solidFill>
          <a:ln/>
        </p:spPr>
      </p:sp>
      <p:pic>
        <p:nvPicPr>
          <p:cNvPr id="4" name="Image 0" descr="Modelo lógico final con las 10 tablas, sus claves primarias y foráneas">    </p:cNvPr>
          <p:cNvPicPr>
            <a:picLocks noChangeAspect="1"/>
          </p:cNvPicPr>
          <p:nvPr/>
        </p:nvPicPr>
        <p:blipFill>
          <a:blip r:embed="rId1"/>
          <a:srcRect l="-98" r="-98" t="0" b="0"/>
          <a:stretch/>
        </p:blipFill>
        <p:spPr>
          <a:xfrm>
            <a:off x="819150" y="1525259"/>
            <a:ext cx="6718300" cy="4165600"/>
          </a:xfrm>
          <a:prstGeom prst="roundRect">
            <a:avLst>
              <a:gd name="adj" fmla="val 1677"/>
            </a:avLst>
          </a:prstGeom>
        </p:spPr>
      </p:pic>
      <p:sp>
        <p:nvSpPr>
          <p:cNvPr id="5" name="Shape 2"/>
          <p:cNvSpPr/>
          <p:nvPr/>
        </p:nvSpPr>
        <p:spPr>
          <a:xfrm>
            <a:off x="815975" y="1522084"/>
            <a:ext cx="6724650" cy="4171950"/>
          </a:xfrm>
          <a:prstGeom prst="roundRect">
            <a:avLst>
              <a:gd name="adj" fmla="val 1750"/>
            </a:avLst>
          </a:prstGeom>
          <a:noFill/>
          <a:ln w="6350">
            <a:solidFill>
              <a:srgbClr val="3A3347"/>
            </a:solidFill>
            <a:prstDash val="solid"/>
          </a:ln>
        </p:spPr>
      </p:sp>
      <p:sp>
        <p:nvSpPr>
          <p:cNvPr id="6" name="Text 3"/>
          <p:cNvSpPr/>
          <p:nvPr/>
        </p:nvSpPr>
        <p:spPr>
          <a:xfrm>
            <a:off x="7963408" y="2724218"/>
            <a:ext cx="3512566" cy="1793081"/>
          </a:xfrm>
          <a:prstGeom prst="rect">
            <a:avLst/>
          </a:prstGeom>
          <a:noFill/>
          <a:ln/>
        </p:spPr>
        <p:txBody>
          <a:bodyPr wrap="square" lIns="0" tIns="0" rIns="0" bIns="0" rtlCol="0" anchor="t">
            <a:normAutofit/>
          </a:bodyPr>
          <a:lstStyle/>
          <a:p>
            <a:pPr algn="l" marL="189992" indent="-189992">
              <a:lnSpc>
                <a:spcPts val="2320"/>
              </a:lnSpc>
              <a:buSzPct val="100000"/>
              <a:buChar char="•"/>
            </a:pPr>
            <a:r>
              <a:rPr lang="en-US" sz="1600" dirty="0">
                <a:solidFill>
                  <a:srgbClr val="D9D0E4"/>
                </a:solidFill>
                <a:latin typeface="DM Sans" pitchFamily="34" charset="0"/>
                <a:ea typeface="DM Sans" pitchFamily="34" charset="-122"/>
                <a:cs typeface="DM Sans" pitchFamily="34" charset="-120"/>
              </a:rPr>
              <a:t>10 tablas con clave primaria (PK) y claves foráneas (FK).</a:t>
            </a:r>
            <a:endParaRPr lang="en-US" sz="1600" dirty="0"/>
          </a:p>
          <a:p>
            <a:pPr algn="l" marL="189992" indent="-189992">
              <a:lnSpc>
                <a:spcPts val="2320"/>
              </a:lnSpc>
              <a:buSzPct val="100000"/>
              <a:buChar char="•"/>
            </a:pPr>
            <a:r>
              <a:rPr lang="en-US" sz="1600" dirty="0">
                <a:solidFill>
                  <a:srgbClr val="D9D0E4"/>
                </a:solidFill>
                <a:latin typeface="DM Sans" pitchFamily="34" charset="0"/>
                <a:ea typeface="DM Sans" pitchFamily="34" charset="-122"/>
                <a:cs typeface="DM Sans" pitchFamily="34" charset="-120"/>
              </a:rPr>
              <a:t>Todas las claves son VARCHAR(10).</a:t>
            </a:r>
            <a:endParaRPr lang="en-US" sz="1600" dirty="0"/>
          </a:p>
          <a:p>
            <a:pPr algn="l" marL="189992" indent="-189992">
              <a:lnSpc>
                <a:spcPts val="2320"/>
              </a:lnSpc>
              <a:buSzPct val="100000"/>
              <a:buChar char="•"/>
            </a:pPr>
            <a:r>
              <a:rPr lang="en-US" sz="1600" dirty="0">
                <a:solidFill>
                  <a:srgbClr val="D9D0E4"/>
                </a:solidFill>
                <a:latin typeface="DM Sans" pitchFamily="34" charset="0"/>
                <a:ea typeface="DM Sans" pitchFamily="34" charset="-122"/>
                <a:cs typeface="DM Sans" pitchFamily="34" charset="-120"/>
              </a:rPr>
              <a:t>Edición une campus, promoción, vertical y modalidad.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B2A52"/>
                </a:solidFill>
                <a:latin typeface="DM Sans" pitchFamily="34" charset="0"/>
                <a:ea typeface="DM Sans" pitchFamily="34" charset="-122"/>
                <a:cs typeface="DM Sans" pitchFamily="34" charset="-120"/>
              </a:rPr>
              <a:t>Normalización: 1FN, 2FN y 3FN</a:t>
            </a:r>
            <a:endParaRPr lang="en-US" sz="3600" dirty="0"/>
          </a:p>
        </p:txBody>
      </p:sp>
      <p:sp>
        <p:nvSpPr>
          <p:cNvPr id="3" name="Shape 1"/>
          <p:cNvSpPr/>
          <p:nvPr/>
        </p:nvSpPr>
        <p:spPr>
          <a:xfrm>
            <a:off x="815975" y="1623684"/>
            <a:ext cx="3346450" cy="2524323"/>
          </a:xfrm>
          <a:prstGeom prst="roundRect">
            <a:avLst>
              <a:gd name="adj" fmla="val 3899"/>
            </a:avLst>
          </a:prstGeom>
          <a:solidFill>
            <a:srgbClr val="FFFFFF"/>
          </a:solidFill>
          <a:ln w="6350">
            <a:solidFill>
              <a:srgbClr val="DDD3E8"/>
            </a:solidFill>
            <a:prstDash val="solid"/>
          </a:ln>
        </p:spPr>
      </p:sp>
      <p:sp>
        <p:nvSpPr>
          <p:cNvPr id="4" name="Text 2"/>
          <p:cNvSpPr/>
          <p:nvPr/>
        </p:nvSpPr>
        <p:spPr>
          <a:xfrm>
            <a:off x="1071033" y="1878741"/>
            <a:ext cx="2921423" cy="452107"/>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7A4FA3"/>
                </a:solidFill>
                <a:latin typeface="DM Sans" pitchFamily="34" charset="0"/>
                <a:ea typeface="DM Sans" pitchFamily="34" charset="-122"/>
                <a:cs typeface="DM Sans" pitchFamily="34" charset="-120"/>
              </a:rPr>
              <a:t>1FN</a:t>
            </a:r>
            <a:endParaRPr lang="en-US" sz="2800" dirty="0"/>
          </a:p>
        </p:txBody>
      </p:sp>
      <p:sp>
        <p:nvSpPr>
          <p:cNvPr id="5" name="Text 3"/>
          <p:cNvSpPr/>
          <p:nvPr/>
        </p:nvSpPr>
        <p:spPr>
          <a:xfrm>
            <a:off x="1071033" y="2432447"/>
            <a:ext cx="29214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2A52"/>
                </a:solidFill>
                <a:latin typeface="DM Sans" pitchFamily="34" charset="0"/>
                <a:ea typeface="DM Sans" pitchFamily="34" charset="-122"/>
                <a:cs typeface="DM Sans" pitchFamily="34" charset="-120"/>
              </a:rPr>
              <a:t>Una celda, un dato</a:t>
            </a:r>
            <a:endParaRPr lang="en-US" sz="1500" dirty="0"/>
          </a:p>
        </p:txBody>
      </p:sp>
      <p:sp>
        <p:nvSpPr>
          <p:cNvPr id="6" name="Text 4"/>
          <p:cNvSpPr/>
          <p:nvPr/>
        </p:nvSpPr>
        <p:spPr>
          <a:xfrm>
            <a:off x="1071033" y="2826147"/>
            <a:ext cx="292142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347"/>
                </a:solidFill>
                <a:latin typeface="DM Sans" pitchFamily="34" charset="0"/>
                <a:ea typeface="DM Sans" pitchFamily="34" charset="-122"/>
                <a:cs typeface="DM Sans" pitchFamily="34" charset="-120"/>
              </a:rPr>
              <a:t>Las 5 columnas de proyectos pasan a ser filas de Calificación.</a:t>
            </a:r>
            <a:endParaRPr lang="en-US" sz="1500" dirty="0"/>
          </a:p>
        </p:txBody>
      </p:sp>
      <p:sp>
        <p:nvSpPr>
          <p:cNvPr id="7" name="Shape 5"/>
          <p:cNvSpPr/>
          <p:nvPr/>
        </p:nvSpPr>
        <p:spPr>
          <a:xfrm>
            <a:off x="4422775" y="1623684"/>
            <a:ext cx="3346450" cy="2524323"/>
          </a:xfrm>
          <a:prstGeom prst="roundRect">
            <a:avLst>
              <a:gd name="adj" fmla="val 3899"/>
            </a:avLst>
          </a:prstGeom>
          <a:solidFill>
            <a:srgbClr val="FFFFFF"/>
          </a:solidFill>
          <a:ln w="6350">
            <a:solidFill>
              <a:srgbClr val="DDD3E8"/>
            </a:solidFill>
            <a:prstDash val="solid"/>
          </a:ln>
        </p:spPr>
      </p:sp>
      <p:sp>
        <p:nvSpPr>
          <p:cNvPr id="8" name="Text 6"/>
          <p:cNvSpPr/>
          <p:nvPr/>
        </p:nvSpPr>
        <p:spPr>
          <a:xfrm>
            <a:off x="4677833" y="1878741"/>
            <a:ext cx="2921423" cy="452107"/>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7A4FA3"/>
                </a:solidFill>
                <a:latin typeface="DM Sans" pitchFamily="34" charset="0"/>
                <a:ea typeface="DM Sans" pitchFamily="34" charset="-122"/>
                <a:cs typeface="DM Sans" pitchFamily="34" charset="-120"/>
              </a:rPr>
              <a:t>2FN</a:t>
            </a:r>
            <a:endParaRPr lang="en-US" sz="2800" dirty="0"/>
          </a:p>
        </p:txBody>
      </p:sp>
      <p:sp>
        <p:nvSpPr>
          <p:cNvPr id="9" name="Text 7"/>
          <p:cNvSpPr/>
          <p:nvPr/>
        </p:nvSpPr>
        <p:spPr>
          <a:xfrm>
            <a:off x="4677833" y="2432447"/>
            <a:ext cx="292142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2A52"/>
                </a:solidFill>
                <a:latin typeface="DM Sans" pitchFamily="34" charset="0"/>
                <a:ea typeface="DM Sans" pitchFamily="34" charset="-122"/>
                <a:cs typeface="DM Sans" pitchFamily="34" charset="-120"/>
              </a:rPr>
              <a:t>Todo depende de la clave completa</a:t>
            </a:r>
            <a:endParaRPr lang="en-US" sz="1500" dirty="0"/>
          </a:p>
        </p:txBody>
      </p:sp>
      <p:sp>
        <p:nvSpPr>
          <p:cNvPr id="10" name="Text 8"/>
          <p:cNvSpPr/>
          <p:nvPr/>
        </p:nvSpPr>
        <p:spPr>
          <a:xfrm>
            <a:off x="4677833" y="3092847"/>
            <a:ext cx="292142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347"/>
                </a:solidFill>
                <a:latin typeface="DM Sans" pitchFamily="34" charset="0"/>
                <a:ea typeface="DM Sans" pitchFamily="34" charset="-122"/>
                <a:cs typeface="DM Sans" pitchFamily="34" charset="-120"/>
              </a:rPr>
              <a:t>Cada dato está en la tabla de lo que describe, con claves de una columna.</a:t>
            </a:r>
            <a:endParaRPr lang="en-US" sz="1500" dirty="0"/>
          </a:p>
        </p:txBody>
      </p:sp>
      <p:sp>
        <p:nvSpPr>
          <p:cNvPr id="11" name="Shape 9"/>
          <p:cNvSpPr/>
          <p:nvPr/>
        </p:nvSpPr>
        <p:spPr>
          <a:xfrm>
            <a:off x="8029575" y="1623684"/>
            <a:ext cx="3346450" cy="2524323"/>
          </a:xfrm>
          <a:prstGeom prst="roundRect">
            <a:avLst>
              <a:gd name="adj" fmla="val 3899"/>
            </a:avLst>
          </a:prstGeom>
          <a:solidFill>
            <a:srgbClr val="FFFFFF"/>
          </a:solidFill>
          <a:ln w="6350">
            <a:solidFill>
              <a:srgbClr val="DDD3E8"/>
            </a:solidFill>
            <a:prstDash val="solid"/>
          </a:ln>
        </p:spPr>
      </p:sp>
      <p:sp>
        <p:nvSpPr>
          <p:cNvPr id="12" name="Text 10"/>
          <p:cNvSpPr/>
          <p:nvPr/>
        </p:nvSpPr>
        <p:spPr>
          <a:xfrm>
            <a:off x="8284634" y="1878741"/>
            <a:ext cx="2921423" cy="452107"/>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7A4FA3"/>
                </a:solidFill>
                <a:latin typeface="DM Sans" pitchFamily="34" charset="0"/>
                <a:ea typeface="DM Sans" pitchFamily="34" charset="-122"/>
                <a:cs typeface="DM Sans" pitchFamily="34" charset="-120"/>
              </a:rPr>
              <a:t>3FN</a:t>
            </a:r>
            <a:endParaRPr lang="en-US" sz="2800" dirty="0"/>
          </a:p>
        </p:txBody>
      </p:sp>
      <p:sp>
        <p:nvSpPr>
          <p:cNvPr id="13" name="Text 11"/>
          <p:cNvSpPr/>
          <p:nvPr/>
        </p:nvSpPr>
        <p:spPr>
          <a:xfrm>
            <a:off x="8284634" y="2432447"/>
            <a:ext cx="29214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2A52"/>
                </a:solidFill>
                <a:latin typeface="DM Sans" pitchFamily="34" charset="0"/>
                <a:ea typeface="DM Sans" pitchFamily="34" charset="-122"/>
                <a:cs typeface="DM Sans" pitchFamily="34" charset="-120"/>
              </a:rPr>
              <a:t>Nada depende de otro dato</a:t>
            </a:r>
            <a:endParaRPr lang="en-US" sz="1500" dirty="0"/>
          </a:p>
        </p:txBody>
      </p:sp>
      <p:sp>
        <p:nvSpPr>
          <p:cNvPr id="14" name="Text 12"/>
          <p:cNvSpPr/>
          <p:nvPr/>
        </p:nvSpPr>
        <p:spPr>
          <a:xfrm>
            <a:off x="8284634" y="2826147"/>
            <a:ext cx="292142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347"/>
                </a:solidFill>
                <a:latin typeface="DM Sans" pitchFamily="34" charset="0"/>
                <a:ea typeface="DM Sans" pitchFamily="34" charset="-122"/>
                <a:cs typeface="DM Sans" pitchFamily="34" charset="-120"/>
              </a:rPr>
              <a:t>La fecha de comienzo depende de la promoción, así que está solo en Promoción.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3B2A52"/>
                </a:solidFill>
                <a:latin typeface="DM Sans" pitchFamily="34" charset="0"/>
                <a:ea typeface="DM Sans" pitchFamily="34" charset="-122"/>
                <a:cs typeface="DM Sans" pitchFamily="34" charset="-120"/>
              </a:rPr>
              <a:t>Cómo se montó la base de datos</a:t>
            </a:r>
            <a:endParaRPr lang="en-US" sz="3600" dirty="0"/>
          </a:p>
        </p:txBody>
      </p:sp>
      <p:sp>
        <p:nvSpPr>
          <p:cNvPr id="3" name="Shape 1"/>
          <p:cNvSpPr/>
          <p:nvPr/>
        </p:nvSpPr>
        <p:spPr>
          <a:xfrm>
            <a:off x="815975" y="1623684"/>
            <a:ext cx="3346450" cy="2336337"/>
          </a:xfrm>
          <a:prstGeom prst="roundRect">
            <a:avLst>
              <a:gd name="adj" fmla="val 4213"/>
            </a:avLst>
          </a:prstGeom>
          <a:solidFill>
            <a:srgbClr val="FFFFFF"/>
          </a:solidFill>
          <a:ln w="6350">
            <a:solidFill>
              <a:srgbClr val="DDD3E8"/>
            </a:solidFill>
            <a:prstDash val="solid"/>
          </a:ln>
        </p:spPr>
      </p:sp>
      <p:pic>
        <p:nvPicPr>
          <p:cNvPr id="4" name="Image 0" descr="Database">    </p:cNvPr>
          <p:cNvPicPr>
            <a:picLocks noChangeAspect="1"/>
          </p:cNvPicPr>
          <p:nvPr/>
        </p:nvPicPr>
        <p:blipFill>
          <a:blip r:embed="rId1"/>
          <a:srcRect l="0" r="0" t="0" b="0"/>
          <a:stretch/>
        </p:blipFill>
        <p:spPr>
          <a:xfrm>
            <a:off x="1071033" y="1878741"/>
            <a:ext cx="406400" cy="406400"/>
          </a:xfrm>
          <a:prstGeom prst="rect">
            <a:avLst/>
          </a:prstGeom>
        </p:spPr>
      </p:pic>
      <p:sp>
        <p:nvSpPr>
          <p:cNvPr id="5" name="Text 2"/>
          <p:cNvSpPr/>
          <p:nvPr/>
        </p:nvSpPr>
        <p:spPr>
          <a:xfrm>
            <a:off x="1071033" y="2412141"/>
            <a:ext cx="2921423"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3B2A52"/>
                </a:solidFill>
                <a:latin typeface="DM Sans" pitchFamily="34" charset="0"/>
                <a:ea typeface="DM Sans" pitchFamily="34" charset="-122"/>
                <a:cs typeface="DM Sans" pitchFamily="34" charset="-120"/>
              </a:rPr>
              <a:t>Docker</a:t>
            </a:r>
            <a:endParaRPr lang="en-US" sz="2400" dirty="0"/>
          </a:p>
        </p:txBody>
      </p:sp>
      <p:sp>
        <p:nvSpPr>
          <p:cNvPr id="6" name="Text 3"/>
          <p:cNvSpPr/>
          <p:nvPr/>
        </p:nvSpPr>
        <p:spPr>
          <a:xfrm>
            <a:off x="1071033" y="2904861"/>
            <a:ext cx="292142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347"/>
                </a:solidFill>
                <a:latin typeface="DM Sans" pitchFamily="34" charset="0"/>
                <a:ea typeface="DM Sans" pitchFamily="34" charset="-122"/>
                <a:cs typeface="DM Sans" pitchFamily="34" charset="-120"/>
              </a:rPr>
              <a:t>Ejecuta PostgreSQL en un contenedor, igual en cualquier ordenador.</a:t>
            </a:r>
            <a:endParaRPr lang="en-US" sz="1500" dirty="0"/>
          </a:p>
        </p:txBody>
      </p:sp>
      <p:sp>
        <p:nvSpPr>
          <p:cNvPr id="7" name="Shape 4"/>
          <p:cNvSpPr/>
          <p:nvPr/>
        </p:nvSpPr>
        <p:spPr>
          <a:xfrm>
            <a:off x="4422775" y="1623684"/>
            <a:ext cx="3346450" cy="2336337"/>
          </a:xfrm>
          <a:prstGeom prst="roundRect">
            <a:avLst>
              <a:gd name="adj" fmla="val 4213"/>
            </a:avLst>
          </a:prstGeom>
          <a:solidFill>
            <a:srgbClr val="FFFFFF"/>
          </a:solidFill>
          <a:ln w="6350">
            <a:solidFill>
              <a:srgbClr val="DDD3E8"/>
            </a:solidFill>
            <a:prstDash val="solid"/>
          </a:ln>
        </p:spPr>
      </p:sp>
      <p:pic>
        <p:nvPicPr>
          <p:cNvPr id="8" name="Image 1" descr="Search">    </p:cNvPr>
          <p:cNvPicPr>
            <a:picLocks noChangeAspect="1"/>
          </p:cNvPicPr>
          <p:nvPr/>
        </p:nvPicPr>
        <p:blipFill>
          <a:blip r:embed="rId2"/>
          <a:srcRect l="0" r="0" t="0" b="0"/>
          <a:stretch/>
        </p:blipFill>
        <p:spPr>
          <a:xfrm>
            <a:off x="4677833" y="1878741"/>
            <a:ext cx="406400" cy="406400"/>
          </a:xfrm>
          <a:prstGeom prst="rect">
            <a:avLst/>
          </a:prstGeom>
        </p:spPr>
      </p:pic>
      <p:sp>
        <p:nvSpPr>
          <p:cNvPr id="9" name="Text 5"/>
          <p:cNvSpPr/>
          <p:nvPr/>
        </p:nvSpPr>
        <p:spPr>
          <a:xfrm>
            <a:off x="4677833" y="2412141"/>
            <a:ext cx="2921423"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3B2A52"/>
                </a:solidFill>
                <a:latin typeface="DM Sans" pitchFamily="34" charset="0"/>
                <a:ea typeface="DM Sans" pitchFamily="34" charset="-122"/>
                <a:cs typeface="DM Sans" pitchFamily="34" charset="-120"/>
              </a:rPr>
              <a:t>pgAdmin 4</a:t>
            </a:r>
            <a:endParaRPr lang="en-US" sz="2400" dirty="0"/>
          </a:p>
        </p:txBody>
      </p:sp>
      <p:sp>
        <p:nvSpPr>
          <p:cNvPr id="10" name="Text 6"/>
          <p:cNvSpPr/>
          <p:nvPr/>
        </p:nvSpPr>
        <p:spPr>
          <a:xfrm>
            <a:off x="4677833" y="2904861"/>
            <a:ext cx="292142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347"/>
                </a:solidFill>
                <a:latin typeface="DM Sans" pitchFamily="34" charset="0"/>
                <a:ea typeface="DM Sans" pitchFamily="34" charset="-122"/>
                <a:cs typeface="DM Sans" pitchFamily="34" charset="-120"/>
              </a:rPr>
              <a:t>Para visualizar la base de datos, sus tablas y las relaciones.</a:t>
            </a:r>
            <a:endParaRPr lang="en-US" sz="1500" dirty="0"/>
          </a:p>
        </p:txBody>
      </p:sp>
      <p:sp>
        <p:nvSpPr>
          <p:cNvPr id="11" name="Shape 7"/>
          <p:cNvSpPr/>
          <p:nvPr/>
        </p:nvSpPr>
        <p:spPr>
          <a:xfrm>
            <a:off x="8029575" y="1623684"/>
            <a:ext cx="3346450" cy="2336337"/>
          </a:xfrm>
          <a:prstGeom prst="roundRect">
            <a:avLst>
              <a:gd name="adj" fmla="val 4213"/>
            </a:avLst>
          </a:prstGeom>
          <a:solidFill>
            <a:srgbClr val="FFFFFF"/>
          </a:solidFill>
          <a:ln w="6350">
            <a:solidFill>
              <a:srgbClr val="DDD3E8"/>
            </a:solidFill>
            <a:prstDash val="solid"/>
          </a:ln>
        </p:spPr>
      </p:sp>
      <p:pic>
        <p:nvPicPr>
          <p:cNvPr id="12" name="Image 2" descr="Cloud">    </p:cNvPr>
          <p:cNvPicPr>
            <a:picLocks noChangeAspect="1"/>
          </p:cNvPicPr>
          <p:nvPr/>
        </p:nvPicPr>
        <p:blipFill>
          <a:blip r:embed="rId3"/>
          <a:srcRect l="0" r="0" t="0" b="0"/>
          <a:stretch/>
        </p:blipFill>
        <p:spPr>
          <a:xfrm>
            <a:off x="8284634" y="1878741"/>
            <a:ext cx="406400" cy="406400"/>
          </a:xfrm>
          <a:prstGeom prst="rect">
            <a:avLst/>
          </a:prstGeom>
        </p:spPr>
      </p:pic>
      <p:sp>
        <p:nvSpPr>
          <p:cNvPr id="13" name="Text 8"/>
          <p:cNvSpPr/>
          <p:nvPr/>
        </p:nvSpPr>
        <p:spPr>
          <a:xfrm>
            <a:off x="8284634" y="2412141"/>
            <a:ext cx="2921423"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3B2A52"/>
                </a:solidFill>
                <a:latin typeface="DM Sans" pitchFamily="34" charset="0"/>
                <a:ea typeface="DM Sans" pitchFamily="34" charset="-122"/>
                <a:cs typeface="DM Sans" pitchFamily="34" charset="-120"/>
              </a:rPr>
              <a:t>Render</a:t>
            </a:r>
            <a:endParaRPr lang="en-US" sz="2400" dirty="0"/>
          </a:p>
        </p:txBody>
      </p:sp>
      <p:sp>
        <p:nvSpPr>
          <p:cNvPr id="14" name="Text 9"/>
          <p:cNvSpPr/>
          <p:nvPr/>
        </p:nvSpPr>
        <p:spPr>
          <a:xfrm>
            <a:off x="8284634" y="2904861"/>
            <a:ext cx="292142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347"/>
                </a:solidFill>
                <a:latin typeface="DM Sans" pitchFamily="34" charset="0"/>
                <a:ea typeface="DM Sans" pitchFamily="34" charset="-122"/>
                <a:cs typeface="DM Sans" pitchFamily="34" charset="-120"/>
              </a:rPr>
              <a:t>Para simular que la base de datos está en la nube.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31C"/>
        </a:solidFill>
      </p:bgPr>
    </p:bg>
    <p:spTree>
      <p:nvGrpSpPr>
        <p:cNvPr id="1" name=""/>
        <p:cNvGrpSpPr/>
        <p:nvPr/>
      </p:nvGrpSpPr>
      <p:grpSpPr>
        <a:xfrm>
          <a:off x="0" y="0"/>
          <a:ext cx="0" cy="0"/>
          <a:chOff x="0" y="0"/>
          <a:chExt cx="0" cy="0"/>
        </a:xfrm>
      </p:grpSpPr>
      <p:sp>
        <p:nvSpPr>
          <p:cNvPr id="2" name="Shape 0"/>
          <p:cNvSpPr/>
          <p:nvPr/>
        </p:nvSpPr>
        <p:spPr>
          <a:xfrm>
            <a:off x="812800" y="908050"/>
            <a:ext cx="6413500" cy="4838700"/>
          </a:xfrm>
          <a:prstGeom prst="roundRect">
            <a:avLst>
              <a:gd name="adj" fmla="val 1575"/>
            </a:avLst>
          </a:prstGeom>
          <a:solidFill>
            <a:srgbClr val="FFFFFF"/>
          </a:solidFill>
          <a:ln/>
        </p:spPr>
      </p:sp>
      <p:pic>
        <p:nvPicPr>
          <p:cNvPr id="3" name="Image 0" descr="Esquema de la base de datos generado por pgAdmin 4 con las 10 tablas y sus relaciones">    </p:cNvPr>
          <p:cNvPicPr>
            <a:picLocks noChangeAspect="1"/>
          </p:cNvPicPr>
          <p:nvPr/>
        </p:nvPicPr>
        <p:blipFill>
          <a:blip r:embed="rId1"/>
          <a:srcRect l="-31" r="-31" t="0" b="0"/>
          <a:stretch/>
        </p:blipFill>
        <p:spPr>
          <a:xfrm>
            <a:off x="812800" y="908050"/>
            <a:ext cx="6413500" cy="4838700"/>
          </a:xfrm>
          <a:prstGeom prst="roundRect">
            <a:avLst>
              <a:gd name="adj" fmla="val 1575"/>
            </a:avLst>
          </a:prstGeom>
        </p:spPr>
      </p:pic>
      <p:sp>
        <p:nvSpPr>
          <p:cNvPr id="4" name="Text 1"/>
          <p:cNvSpPr/>
          <p:nvPr>
            <p:ph type="title"/>
          </p:nvPr>
        </p:nvSpPr>
        <p:spPr>
          <a:xfrm>
            <a:off x="7632700" y="2189559"/>
            <a:ext cx="3858895"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1EDF6"/>
                </a:solidFill>
                <a:latin typeface="DM Sans" pitchFamily="34" charset="0"/>
                <a:ea typeface="DM Sans" pitchFamily="34" charset="-122"/>
                <a:cs typeface="DM Sans" pitchFamily="34" charset="-120"/>
              </a:rPr>
              <a:t>La base de datos en pgAdmin 4</a:t>
            </a:r>
            <a:endParaRPr lang="en-US" sz="3200" dirty="0"/>
          </a:p>
        </p:txBody>
      </p:sp>
      <p:sp>
        <p:nvSpPr>
          <p:cNvPr id="5" name="Text 2"/>
          <p:cNvSpPr/>
          <p:nvPr/>
        </p:nvSpPr>
        <p:spPr>
          <a:xfrm>
            <a:off x="7632700" y="3286789"/>
            <a:ext cx="3858895" cy="120385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D9D0E4"/>
                </a:solidFill>
                <a:latin typeface="DM Sans" pitchFamily="34" charset="0"/>
                <a:ea typeface="DM Sans" pitchFamily="34" charset="-122"/>
                <a:cs typeface="DM Sans" pitchFamily="34" charset="-120"/>
              </a:rPr>
              <a:t>El esquema que genera pgAdmin coincide con nuestro modelo lógico: las mismas 10 tablas y las mismas relaciones.</a:t>
            </a:r>
            <a:endParaRPr lang="en-US" sz="1600" dirty="0"/>
          </a:p>
        </p:txBody>
      </p:sp>
    </p:spTree>
  </p:cSld>
  <p:clrMapOvr>
    <a:masterClrMapping/>
  </p:clrMapOvr>
</p:sld>
</file>

<file path=ppt/theme/theme1.xml><?xml version="1.0" encoding="utf-8"?>
<a:theme xmlns:a="http://schemas.openxmlformats.org/drawingml/2006/main" name="Base de datos del bootcamp">
  <a:themeElements>
    <a:clrScheme name="Base de datos del bootcamp">
      <a:dk1>
        <a:srgbClr val="16131C"/>
      </a:dk1>
      <a:lt1>
        <a:srgbClr val="F1EDF6"/>
      </a:lt1>
      <a:dk2>
        <a:srgbClr val="2C2932"/>
      </a:dk2>
      <a:lt2>
        <a:srgbClr val="BAB7C0"/>
      </a:lt2>
      <a:accent1>
        <a:srgbClr val="3B2A52"/>
      </a:accent1>
      <a:accent2>
        <a:srgbClr val="7A4FA3"/>
      </a:accent2>
      <a:accent3>
        <a:srgbClr val="F0A840"/>
      </a:accent3>
      <a:accent4>
        <a:srgbClr val="C3A6DC"/>
      </a:accent4>
      <a:accent5>
        <a:srgbClr val="3A3347"/>
      </a:accent5>
      <a:accent6>
        <a:srgbClr val="D9D0E4"/>
      </a:accent6>
      <a:hlink>
        <a:srgbClr val="0563C1"/>
      </a:hlink>
      <a:folHlink>
        <a:srgbClr val="954F72"/>
      </a:folHlink>
    </a:clrScheme>
    <a:fontScheme name="Base de datos del bootcamp">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 de datos del bootcamp</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2026-10-30T09:21:35Z</dcterms:created>
  <dcterms:modified xsi:type="dcterms:W3CDTF">2026-10-30T09:21:35Z</dcterms:modified>
</cp:coreProperties>
</file>